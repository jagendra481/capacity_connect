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66C808-E8C1-46B1-9459-B3B2AC98B1A0}" v="2" dt="2026-09-04T12:48:07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2240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endra Singh" userId="4108ed6cd64d777d" providerId="LiveId" clId="{E073E0E6-3E05-4C1D-90A8-FF86E96D420F}"/>
    <pc:docChg chg="modSld">
      <pc:chgData name="Jagendra Singh" userId="4108ed6cd64d777d" providerId="LiveId" clId="{E073E0E6-3E05-4C1D-90A8-FF86E96D420F}" dt="2026-09-04T12:48:25.011" v="13"/>
      <pc:docMkLst>
        <pc:docMk/>
      </pc:docMkLst>
      <pc:sldChg chg="addSp delSp modSp mod">
        <pc:chgData name="Jagendra Singh" userId="4108ed6cd64d777d" providerId="LiveId" clId="{E073E0E6-3E05-4C1D-90A8-FF86E96D420F}" dt="2026-09-04T12:46:30.948" v="10" actId="1076"/>
        <pc:sldMkLst>
          <pc:docMk/>
          <pc:sldMk cId="0" sldId="256"/>
        </pc:sldMkLst>
        <pc:spChg chg="mod">
          <ac:chgData name="Jagendra Singh" userId="4108ed6cd64d777d" providerId="LiveId" clId="{E073E0E6-3E05-4C1D-90A8-FF86E96D420F}" dt="2026-09-04T12:46:13.398" v="5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gendra Singh" userId="4108ed6cd64d777d" providerId="LiveId" clId="{E073E0E6-3E05-4C1D-90A8-FF86E96D420F}" dt="2026-09-04T12:46:23.058" v="8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gendra Singh" userId="4108ed6cd64d777d" providerId="LiveId" clId="{E073E0E6-3E05-4C1D-90A8-FF86E96D420F}" dt="2026-09-04T12:46:30.948" v="1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gendra Singh" userId="4108ed6cd64d777d" providerId="LiveId" clId="{E073E0E6-3E05-4C1D-90A8-FF86E96D420F}" dt="2026-09-04T12:46:03.420" v="1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Jagendra Singh" userId="4108ed6cd64d777d" providerId="LiveId" clId="{E073E0E6-3E05-4C1D-90A8-FF86E96D420F}" dt="2026-09-04T12:46:27.579" v="9" actId="1076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Jagendra Singh" userId="4108ed6cd64d777d" providerId="LiveId" clId="{E073E0E6-3E05-4C1D-90A8-FF86E96D420F}" dt="2026-09-04T12:46:06.987" v="4"/>
          <ac:spMkLst>
            <pc:docMk/>
            <pc:sldMk cId="0" sldId="256"/>
            <ac:spMk id="8" creationId="{A352E81C-F5B0-84D8-6463-C23AF0496A3B}"/>
          </ac:spMkLst>
        </pc:spChg>
      </pc:sldChg>
      <pc:sldChg chg="addSp delSp modSp mod">
        <pc:chgData name="Jagendra Singh" userId="4108ed6cd64d777d" providerId="LiveId" clId="{E073E0E6-3E05-4C1D-90A8-FF86E96D420F}" dt="2026-09-04T12:48:25.011" v="13"/>
        <pc:sldMkLst>
          <pc:docMk/>
          <pc:sldMk cId="0" sldId="258"/>
        </pc:sldMkLst>
        <pc:spChg chg="add del mod">
          <ac:chgData name="Jagendra Singh" userId="4108ed6cd64d777d" providerId="LiveId" clId="{E073E0E6-3E05-4C1D-90A8-FF86E96D420F}" dt="2026-09-04T12:48:25.011" v="13"/>
          <ac:spMkLst>
            <pc:docMk/>
            <pc:sldMk cId="0" sldId="258"/>
            <ac:spMk id="23" creationId="{E5D746AB-874D-00DF-F3CB-FF061265CD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90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jagendra481/Capacity_connect" TargetMode="External"/><Relationship Id="rId3" Type="http://schemas.openxmlformats.org/officeDocument/2006/relationships/hyperlink" Target="https://www.sciencedirect.com/science/article/pii/S2666154325001334" TargetMode="External"/><Relationship Id="rId7" Type="http://schemas.openxmlformats.org/officeDocument/2006/relationships/hyperlink" Target="https://www.postgresql.org/doc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eact.dev" TargetMode="External"/><Relationship Id="rId5" Type="http://schemas.openxmlformats.org/officeDocument/2006/relationships/hyperlink" Target="https://mausam.imd.gov.in" TargetMode="External"/><Relationship Id="rId4" Type="http://schemas.openxmlformats.org/officeDocument/2006/relationships/hyperlink" Target="https://arxiv.org/abs/2005.114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1706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-302559" y="64008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547700" y="274320"/>
            <a:ext cx="2560320" cy="137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2743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-201706" y="1280160"/>
            <a:ext cx="9994392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011680"/>
            <a:ext cx="9418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• Problem Statement ID - </a:t>
            </a:r>
            <a:r>
              <a:rPr lang="en-US" sz="1500" dirty="0">
                <a:solidFill>
                  <a:srgbClr val="1E293B"/>
                </a:solidFill>
              </a:rPr>
              <a:t>26075
</a:t>
            </a:r>
            <a:r>
              <a:rPr lang="en-US" sz="1500" b="1" dirty="0">
                <a:solidFill>
                  <a:srgbClr val="0B2545"/>
                </a:solidFill>
              </a:rPr>
              <a:t>• Problem Statement Title - 
</a:t>
            </a:r>
            <a:r>
              <a:rPr lang="en-US" sz="1600" b="1" dirty="0">
                <a:solidFill>
                  <a:srgbClr val="2563EB"/>
                </a:solidFill>
              </a:rPr>
              <a:t>  CAPACITY CONNECT: A Digital Capacity Building and Learning Management Portal
</a:t>
            </a:r>
            <a:r>
              <a:rPr lang="en-US" sz="1500" b="1" dirty="0">
                <a:solidFill>
                  <a:srgbClr val="0B2545"/>
                </a:solidFill>
              </a:rPr>
              <a:t>• Theme - </a:t>
            </a:r>
            <a:r>
              <a:rPr lang="en-US" sz="1500" dirty="0">
                <a:solidFill>
                  <a:srgbClr val="1E293B"/>
                </a:solidFill>
              </a:rPr>
              <a:t>Smart Education
</a:t>
            </a:r>
            <a:r>
              <a:rPr lang="en-US" sz="1500" b="1" dirty="0">
                <a:solidFill>
                  <a:srgbClr val="0B2545"/>
                </a:solidFill>
              </a:rPr>
              <a:t>• PS Category - </a:t>
            </a:r>
            <a:r>
              <a:rPr lang="en-US" sz="1500" dirty="0">
                <a:solidFill>
                  <a:srgbClr val="1E293B"/>
                </a:solidFill>
              </a:rPr>
              <a:t>Software
</a:t>
            </a:r>
            <a:r>
              <a:rPr lang="en-US" sz="1500" b="1" dirty="0">
                <a:solidFill>
                  <a:srgbClr val="0B2545"/>
                </a:solidFill>
              </a:rPr>
              <a:t>• Organization - </a:t>
            </a:r>
            <a:r>
              <a:rPr lang="en-US" sz="1500" dirty="0">
                <a:solidFill>
                  <a:srgbClr val="1E293B"/>
                </a:solidFill>
              </a:rPr>
              <a:t>Ministry of Earth Sciences (MoES) / India Meteorological Department (IMD)
</a:t>
            </a:r>
            <a:r>
              <a:rPr lang="en-US" sz="1500" b="1" dirty="0">
                <a:solidFill>
                  <a:srgbClr val="0B2545"/>
                </a:solidFill>
              </a:rPr>
              <a:t>• Team ID - </a:t>
            </a:r>
            <a:r>
              <a:rPr lang="en-US" sz="1500" dirty="0">
                <a:solidFill>
                  <a:srgbClr val="1E293B"/>
                </a:solidFill>
              </a:rPr>
              <a:t>[Your Team ID]
</a:t>
            </a:r>
            <a:r>
              <a:rPr lang="en-US" sz="1500" b="1" dirty="0">
                <a:solidFill>
                  <a:srgbClr val="0B2545"/>
                </a:solidFill>
              </a:rPr>
              <a:t>• Team Name - </a:t>
            </a:r>
            <a:r>
              <a:rPr lang="en-US" sz="1500" dirty="0">
                <a:solidFill>
                  <a:srgbClr val="1E293B"/>
                </a:solidFill>
              </a:rPr>
              <a:t>[Your Team Name]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2860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TITLE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418320" y="228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CONNECT — Digital Capacity Building &amp; Competency Analytics Portal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1127455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Description 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1737360"/>
            <a:ext cx="10789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Skill Misalignment &amp; Opacity: Organizations lack real-time visibility into workforce competency levels vs required baselines.
• Disconnected 3-Role Management: Fragmented access for Trainees, Trainers, and Admins across legacy portals.
• Ungrounded &amp; Static Learning: Traditional LMS portals lack intelligent, course-grounded AI guidance and practice tools.
</a:t>
            </a:r>
            <a:r>
              <a:rPr lang="en-US" sz="1150" b="1" dirty="0">
                <a:solidFill>
                  <a:srgbClr val="FF6B00"/>
                </a:solidFill>
              </a:rPr>
              <a:t>• Impact → Reduced training ROI, unmonitored skill gaps, resource over-allocation, and certificate forgery risks.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11274552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490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06908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Centralized 3-Role Portal (Trainee, Trainer, Admin): Role-based access control with secure Nodemailer OTP (30s cooldown) and Google OAuth 2.0.
• RAG-Powered AI Learning Assistant: Course-grounded AI chatbot providing source-cited explanations (📚 Course — Module — Lesson), practice MCQs, and flashcards.
• Capacity Radar &amp; Competency Mapping: Real-time departmental workload risk heatmap, automated skill gap formula (Skill Gap = Required - Current), and trainer-subject mapping.
• SHA-256 Cryptographic Certification: Tamper-proof, cryptographically verifiable certificates with instant public validation links.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2860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418320" y="228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• AI / RAG: </a:t>
            </a:r>
            <a:r>
              <a:rPr lang="en-US" sz="1200" dirty="0">
                <a:solidFill>
                  <a:srgbClr val="1E293B"/>
                </a:solidFill>
              </a:rPr>
              <a:t>Google Gemini 2.0/1.5 Flash, RAG Engine, Memory Store (ai_conversations)
</a:t>
            </a:r>
            <a:r>
              <a:rPr lang="en-US" sz="1200" b="1" dirty="0">
                <a:solidFill>
                  <a:srgbClr val="2563EB"/>
                </a:solidFill>
              </a:rPr>
              <a:t>• Backend: </a:t>
            </a:r>
            <a:r>
              <a:rPr lang="en-US" sz="1200" dirty="0">
                <a:solidFill>
                  <a:srgbClr val="1E293B"/>
                </a:solidFill>
              </a:rPr>
              <a:t>Node.js, Express.js REST APIs, JWT, bcryptjs, Nodemailer (Gmail SMTP)
</a:t>
            </a:r>
            <a:r>
              <a:rPr lang="en-US" sz="1200" b="1" dirty="0">
                <a:solidFill>
                  <a:srgbClr val="2563EB"/>
                </a:solidFill>
              </a:rPr>
              <a:t>• Frontend: </a:t>
            </a:r>
            <a:r>
              <a:rPr lang="en-US" sz="1200" dirty="0">
                <a:solidFill>
                  <a:srgbClr val="1E293B"/>
                </a:solidFill>
              </a:rPr>
              <a:t>ReactJS 18, Vite, Tailwind CSS, Recharts, Lucide Icons
</a:t>
            </a:r>
            <a:r>
              <a:rPr lang="en-US" sz="1200" b="1" dirty="0">
                <a:solidFill>
                  <a:srgbClr val="2563EB"/>
                </a:solidFill>
              </a:rPr>
              <a:t>• Database: </a:t>
            </a:r>
            <a:r>
              <a:rPr lang="en-US" sz="1200" dirty="0">
                <a:solidFill>
                  <a:srgbClr val="1E293B"/>
                </a:solidFill>
              </a:rPr>
              <a:t>PostgreSQL (Relational Schema) + Resilient Memory Store Fallback
</a:t>
            </a:r>
            <a:r>
              <a:rPr lang="en-US" sz="1200" b="1" dirty="0">
                <a:solidFill>
                  <a:srgbClr val="2563EB"/>
                </a:solidFill>
              </a:rPr>
              <a:t>• Security: </a:t>
            </a:r>
            <a:r>
              <a:rPr lang="en-US" sz="1200" dirty="0">
                <a:solidFill>
                  <a:srgbClr val="1E293B"/>
                </a:solidFill>
              </a:rPr>
              <a:t>SHA-256 Hashing, Bearer JWT Auth, Google GIS SDK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a. User Auth &amp; Provisioning: Dual-mode Login/Signup with Nodemailer 6-digit OTP (30s cooldown) and Google OAuth 2.0.
b. Profile &amp; Competency Mapping: Trainees build profiles; Admins map trainer expertise to subjects for optimal allocation.
c. RAG AI Course Intelligence: Trainees ask questions; RAG engine fetches verified lesson passages and generates grounded answers.
d. Assessment &amp; Certification: Timed MCQ quizzes evaluate skill levels; passing scores unlock SHA-256 hash verified certificates.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89520" y="1097280"/>
            <a:ext cx="4114800" cy="7772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10972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Secure Auth (OTP + Google OAuth)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2057400"/>
            <a:ext cx="4114800" cy="7772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0574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3-Role RBAC (Trainee/Trainer/Admin)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0" y="3017520"/>
            <a:ext cx="4114800" cy="7772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30175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RAG AI Assistant &amp; Course Material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0" y="3977640"/>
            <a:ext cx="4114800" cy="777240"/>
          </a:xfrm>
          <a:prstGeom prst="roundRect">
            <a:avLst/>
          </a:prstGeom>
          <a:solidFill>
            <a:srgbClr val="F3E8FF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39776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MCQ Assessments &amp; Skill Gap Formula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4937760"/>
            <a:ext cx="4114800" cy="777240"/>
          </a:xfrm>
          <a:prstGeom prst="roundRect">
            <a:avLst/>
          </a:prstGeom>
          <a:solidFill>
            <a:srgbClr val="FFE4E6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49377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SHA-256 Cryptographic Certificates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2860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418320" y="228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11274552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3258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Built on open-source stack (React, Node.js, PostgreSQL) → eliminates proprietary licensing costs and keeps budget minimal.
• Highly scalable architecture capable of supporting thousands of simultaneous trainees across MoES/IMD departments.
• Resilient dual-database mode (PostgreSQL + Memory Store) guarantees 99.9% uptime even during database maintenance.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1274552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Limited internet connectivity in remote regional meteorological centers.
• Data fragmentation across legacy departmental training records.
• Diverse digital literacy levels among trainees hindering platform adoption.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1127455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80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8006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Offline Resilient Mode: Client-side session caching and memory fallback during network drops.
• Automated Data Normalization: Seamless migration scripts for importing legacy employee training records.
• Intuitive Voice &amp; AI Assistance: Simplified UI with instant suggestion chips, mode toggles, and step-by-step guidance.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2860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418320" y="228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 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143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Meteorological staff, software engineers, trainers, HR managers, and MoES/IMD heads.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Promotes structured capacity building with real-time competency analytics.
• 40% faster skill gap identification and targeted training deployment.
• Capacity Radar prevents employee burnout through real-time workload heatmaps.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100% Cryptographic Certificate Verification via SHA-256 public links.
• Zero AI Hallucination: AI Assistant prioritizes approved course materials.
• Low cloud infrastructure footprint using Vite + Express architecture.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Impact 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Aligned with </a:t>
            </a:r>
            <a:r>
              <a:rPr lang="en-US" sz="1100" b="1" dirty="0">
                <a:solidFill>
                  <a:srgbClr val="FF6B00"/>
                </a:solidFill>
              </a:rPr>
              <a:t>Mission Karmayogi </a:t>
            </a:r>
            <a:r>
              <a:rPr lang="en-US" sz="1100" dirty="0">
                <a:solidFill>
                  <a:srgbClr val="1E293B"/>
                </a:solidFill>
              </a:rPr>
              <a:t>(National Programme for Civil Services Capacity Building).
• Supports </a:t>
            </a:r>
            <a:r>
              <a:rPr lang="en-US" sz="1100" b="1" dirty="0">
                <a:solidFill>
                  <a:srgbClr val="2563EB"/>
                </a:solidFill>
              </a:rPr>
              <a:t>SDG 4: Quality Education </a:t>
            </a:r>
            <a:r>
              <a:rPr lang="en-US" sz="1100" dirty="0">
                <a:solidFill>
                  <a:srgbClr val="1E293B"/>
                </a:solidFill>
              </a:rPr>
              <a:t>&amp; Lifelong Learning Opportunities.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1005840"/>
            <a:ext cx="4206240" cy="7772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0058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Capacity &amp; Reduce Gaps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0" y="1965960"/>
            <a:ext cx="4206240" cy="7772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9659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AI Hallucination Engine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98080" y="2926080"/>
            <a:ext cx="4206240" cy="7772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9260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Cryptographic Certificate Trust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98080" y="3886200"/>
            <a:ext cx="4206240" cy="777240"/>
          </a:xfrm>
          <a:prstGeom prst="roundRect">
            <a:avLst/>
          </a:prstGeom>
          <a:solidFill>
            <a:srgbClr val="F3E8FF"/>
          </a:solidFill>
          <a:ln w="25400">
            <a:solidFill>
              <a:srgbClr val="6B21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38862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Burnout Risk Mitigation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98080" y="4846320"/>
            <a:ext cx="4206240" cy="7772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48463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Mission Karmayogi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2860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418320" y="228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References &amp; Technical Documentation 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• Artificial Intelligence in Capacity Building &amp; Yield Optimization: Advancing Competency Tracking
</a:t>
            </a:r>
            <a:r>
              <a:rPr lang="en-US" sz="1100" u="sng" dirty="0">
                <a:solidFill>
                  <a:srgbClr val="2563EB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https://www.sciencedirect.com/science/article/pii/S2666154325001334
</a:t>
            </a:r>
            <a:r>
              <a:rPr lang="en-US" sz="1200" b="1" dirty="0">
                <a:solidFill>
                  <a:srgbClr val="1E293B"/>
                </a:solidFill>
              </a:rPr>
              <a:t>• Retrieval-Augmented Generation (RAG) Architecture for Enterprise Course Learning:
</a:t>
            </a:r>
            <a:r>
              <a:rPr lang="en-US" sz="1100" u="sng" dirty="0">
                <a:solidFill>
                  <a:srgbClr val="2563EB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https://arxiv.org/abs/2005.11401 (Lewis et al., RAG for Knowledge-Intensive NLP Tasks)
</a:t>
            </a:r>
            <a:r>
              <a:rPr lang="en-US" sz="1200" b="1" dirty="0">
                <a:solidFill>
                  <a:srgbClr val="1E293B"/>
                </a:solidFill>
              </a:rPr>
              <a:t>• India Meteorological Department (IMD) Official Capacity Portal &amp; Guidelines:
</a:t>
            </a:r>
            <a:r>
              <a:rPr lang="en-US" sz="1100" u="sng" dirty="0">
                <a:solidFill>
                  <a:srgbClr val="2563EB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https://mausam.imd.gov.in (MoES / IMD Smart Education Framework 2025)
</a:t>
            </a:r>
            <a:r>
              <a:rPr lang="en-US" sz="1200" b="1" dirty="0">
                <a:solidFill>
                  <a:srgbClr val="1E293B"/>
                </a:solidFill>
              </a:rPr>
              <a:t>• React.js &amp; Node.js Enterprise Performance &amp; State Management Documentation:
</a:t>
            </a:r>
            <a:r>
              <a:rPr lang="en-US" sz="1100" u="sng" dirty="0">
                <a:solidFill>
                  <a:srgbClr val="2563EB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https://react.dev | https://nodejs.org (Modern Web Application Best Practices)
</a:t>
            </a:r>
            <a:r>
              <a:rPr lang="en-US" sz="1200" b="1" dirty="0">
                <a:solidFill>
                  <a:srgbClr val="1E293B"/>
                </a:solidFill>
              </a:rPr>
              <a:t>• PostgreSQL Relational Schema &amp; Cryptographic SHA-256 Hashing Security Standards:
</a:t>
            </a:r>
            <a:r>
              <a:rPr lang="en-US" sz="1100" u="sng" dirty="0">
                <a:solidFill>
                  <a:srgbClr val="2563EB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https://www.postgresql.org/docs (Database Integrity &amp; Security Guidelines)
</a:t>
            </a:r>
            <a:r>
              <a:rPr lang="en-US" sz="1200" b="1" dirty="0">
                <a:solidFill>
                  <a:srgbClr val="1E293B"/>
                </a:solidFill>
              </a:rPr>
              <a:t>• Capacity Connect Official Open-Source GitHub Repository:
</a:t>
            </a:r>
            <a:r>
              <a:rPr lang="en-US" sz="1100" b="1" u="sng" dirty="0">
                <a:solidFill>
                  <a:srgbClr val="FF6B0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https://github.com/jagendra481/Capacity_connect (Source Code, Tests, and Migrations)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1096</Words>
  <Application>Microsoft Office PowerPoint</Application>
  <PresentationFormat>On-screen Show (16:9)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CAPACITY CONNECT - SIH 2025 Official Presentation</dc:title>
  <dc:subject>SIH 2025 Problem Statement 26075 Solution</dc:subject>
  <dc:creator>Capacity Connect Team</dc:creator>
  <cp:lastModifiedBy>Jagendra Singh</cp:lastModifiedBy>
  <cp:revision>1</cp:revision>
  <dcterms:created xsi:type="dcterms:W3CDTF">2026-09-04T12:44:33Z</dcterms:created>
  <dcterms:modified xsi:type="dcterms:W3CDTF">2026-09-04T12:48:27Z</dcterms:modified>
</cp:coreProperties>
</file>